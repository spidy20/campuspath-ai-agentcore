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18320" y="-1554480"/>
            <a:ext cx="4206240" cy="4206240"/>
          </a:xfrm>
          <a:prstGeom prst="ellipse">
            <a:avLst/>
          </a:prstGeom>
          <a:noFill/>
          <a:ln w="1524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737360" y="4937760"/>
            <a:ext cx="3474720" cy="3474720"/>
          </a:xfrm>
          <a:prstGeom prst="ellipse">
            <a:avLst/>
          </a:prstGeom>
          <a:noFill/>
          <a:ln w="1524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3396081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CAMPUSPATH AI · PLACEMENT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12848"/>
            <a:ext cx="11155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Avenir Next"/>
              </a:rPr>
              <a:t>Your AI placement coach,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venir Next"/>
              </a:rPr>
              <a:t>built on </a:t>
            </a:r>
            <a:r>
              <a:rPr sz="4000" b="1" i="0">
                <a:solidFill>
                  <a:srgbClr val="D9F99D"/>
                </a:solidFill>
                <a:latin typeface="Avenir Next"/>
              </a:rPr>
              <a:t>Amazon Bedrock AgentCore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FECE4"/>
                </a:solidFill>
                <a:latin typeface="Avenir Next"/>
              </a:rPr>
              <a:t>Placement doubts · Career roadmaps · Resume review · Interview prep — powered by Strands Agents, FastAPI, S3, Lambda and Bedrock LLMs.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12080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1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F99D"/>
                </a:solidFill>
                <a:latin typeface="Avenir Next"/>
              </a:rPr>
              <a:t>Bedrock AgentCore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42616" y="5212080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1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F99D"/>
                </a:solidFill>
                <a:latin typeface="Avenir Next"/>
              </a:rPr>
              <a:t>Nova Pro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9432" y="5212080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1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F99D"/>
                </a:solidFill>
                <a:latin typeface="Avenir Next"/>
              </a:rPr>
              <a:t>Claude 3.7 Sonnet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6248" y="5212080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1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F99D"/>
                </a:solidFill>
                <a:latin typeface="Avenir Next"/>
              </a:rPr>
              <a:t>AWS SAM + Lambda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13064" y="5212080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1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F99D"/>
                </a:solidFill>
                <a:latin typeface="Avenir Next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0A7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70101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01 ·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211B"/>
                </a:solidFill>
                <a:latin typeface="Avenir Next"/>
              </a:rPr>
              <a:t>Why CampusPath AI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074920" cy="4480560"/>
          </a:xfrm>
          <a:prstGeom prst="roundRect">
            <a:avLst>
              <a:gd name="adj" fmla="val 6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D9F99D"/>
                </a:solidFill>
                <a:latin typeface="Avenir Next"/>
              </a:rPr>
              <a:t>The problem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FFFFFF"/>
                </a:solidFill>
                <a:latin typeface="Avenir Next"/>
              </a:rPr>
              <a:t>Engineering students in India face campus placements with generic advice, scattered resources and no personal guidance.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FECE4"/>
                </a:solidFill>
                <a:latin typeface="Avenir Next"/>
              </a:rPr>
              <a:t>Placement officers are stretched thin. Seniors give anecdotes, not plans. Students don't know what to fix first — resume, DSA, aptitude or projects — and deadlines arrive fast.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783080"/>
            <a:ext cx="56692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400" b="1" i="0">
                <a:solidFill>
                  <a:srgbClr val="15211B"/>
                </a:solidFill>
                <a:latin typeface="Avenir Next"/>
              </a:rPr>
              <a:t>Personal: </a:t>
            </a:r>
            <a:r>
              <a:rPr sz="1400" b="0" i="0">
                <a:solidFill>
                  <a:srgbClr val="15211B"/>
                </a:solidFill>
                <a:latin typeface="Avenir Next"/>
              </a:rPr>
              <a:t>every answer uses the student's real degree, year, skills, resume and timeline.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400" b="1" i="0">
                <a:solidFill>
                  <a:srgbClr val="15211B"/>
                </a:solidFill>
                <a:latin typeface="Avenir Next"/>
              </a:rPr>
              <a:t>Actionable: </a:t>
            </a:r>
            <a:r>
              <a:rPr sz="1400" b="0" i="0">
                <a:solidFill>
                  <a:srgbClr val="15211B"/>
                </a:solidFill>
                <a:latin typeface="Avenir Next"/>
              </a:rPr>
              <a:t>prioritized plans with day-by-day tasks, not motivational filler.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400" b="1" i="0">
                <a:solidFill>
                  <a:srgbClr val="15211B"/>
                </a:solidFill>
                <a:latin typeface="Avenir Next"/>
              </a:rPr>
              <a:t>Honest: </a:t>
            </a:r>
            <a:r>
              <a:rPr sz="1400" b="0" i="0">
                <a:solidFill>
                  <a:srgbClr val="15211B"/>
                </a:solidFill>
                <a:latin typeface="Avenir Next"/>
              </a:rPr>
              <a:t>recruiter-style resume verdicts and realistic mock interviews.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400" b="1" i="0">
                <a:solidFill>
                  <a:srgbClr val="15211B"/>
                </a:solidFill>
                <a:latin typeface="Avenir Next"/>
              </a:rPr>
              <a:t>Deadline-aware: </a:t>
            </a:r>
            <a:r>
              <a:rPr sz="1400" b="0" i="0">
                <a:solidFill>
                  <a:srgbClr val="15211B"/>
                </a:solidFill>
                <a:latin typeface="Avenir Next"/>
              </a:rPr>
              <a:t>prep plans are timed to the student's actual interview date.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400" b="1" i="0">
                <a:solidFill>
                  <a:srgbClr val="15211B"/>
                </a:solidFill>
                <a:latin typeface="Avenir Next"/>
              </a:rPr>
              <a:t>Safe: </a:t>
            </a:r>
            <a:r>
              <a:rPr sz="1400" b="0" i="0">
                <a:solidFill>
                  <a:srgbClr val="15211B"/>
                </a:solidFill>
                <a:latin typeface="Avenir Next"/>
              </a:rPr>
              <a:t>guardrails against fabricated claims, cheating help and prompt injection.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736C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85062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02 ·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211B"/>
                </a:solidFill>
                <a:latin typeface="Avenir Next"/>
              </a:rPr>
              <a:t>Four workflows, one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40680" cy="2121408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76B4D"/>
                </a:solidFill>
                <a:latin typeface="Avenir Next"/>
              </a:rPr>
              <a:t>TOOL 01  ·  </a:t>
            </a:r>
            <a:r>
              <a:rPr sz="1600" b="1" i="0">
                <a:solidFill>
                  <a:srgbClr val="15211B"/>
                </a:solidFill>
                <a:latin typeface="Avenir Next"/>
              </a:rPr>
              <a:t>Placement Coach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7736C"/>
                </a:solidFill>
                <a:latin typeface="Avenir Next"/>
              </a:rPr>
              <a:t>Direct answers on strategy, eligibility, rounds and preparation — with a 7-day starter plan and readiness scorecard.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7" y="1737360"/>
            <a:ext cx="5440680" cy="2121408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76B4D"/>
                </a:solidFill>
                <a:latin typeface="Avenir Next"/>
              </a:rPr>
              <a:t>TOOL 02  ·  </a:t>
            </a:r>
            <a:r>
              <a:rPr sz="1600" b="1" i="0">
                <a:solidFill>
                  <a:srgbClr val="15211B"/>
                </a:solidFill>
                <a:latin typeface="Avenir Next"/>
              </a:rPr>
              <a:t>Career Roadmap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7736C"/>
                </a:solidFill>
                <a:latin typeface="Avenir Next"/>
              </a:rPr>
              <a:t>Turns target role + current skills + weekly hours into a phased 30/60/90-day plan with proof-of-work milestones.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69079"/>
            <a:ext cx="5440680" cy="2121408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76B4D"/>
                </a:solidFill>
                <a:latin typeface="Avenir Next"/>
              </a:rPr>
              <a:t>TOOL 03  ·  </a:t>
            </a:r>
            <a:r>
              <a:rPr sz="1600" b="1" i="0">
                <a:solidFill>
                  <a:srgbClr val="15211B"/>
                </a:solidFill>
                <a:latin typeface="Avenir Next"/>
              </a:rPr>
              <a:t>Resume Review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7736C"/>
                </a:solidFill>
                <a:latin typeface="Avenir Next"/>
              </a:rPr>
              <a:t>Upload a PDF → recruiter verdict, score /100, bullet rewrites (Before → Better) and ATS keyword alignment.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7" y="4069079"/>
            <a:ext cx="5440680" cy="2121408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76B4D"/>
                </a:solidFill>
                <a:latin typeface="Avenir Next"/>
              </a:rPr>
              <a:t>TOOL 04  ·  </a:t>
            </a:r>
            <a:r>
              <a:rPr sz="1600" b="1" i="0">
                <a:solidFill>
                  <a:srgbClr val="15211B"/>
                </a:solidFill>
                <a:latin typeface="Avenir Next"/>
              </a:rPr>
              <a:t>Interview Prep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7736C"/>
                </a:solidFill>
                <a:latin typeface="Avenir Next"/>
              </a:rPr>
              <a:t>Role-specific questions, answer frameworks, project deep-dives and a mock round — timed to the interview 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736C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70101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03 · APP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211B"/>
                </a:solidFill>
                <a:latin typeface="Avenir Next"/>
              </a:rPr>
              <a:t>From student question to grounded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993392" cy="1051560"/>
          </a:xfrm>
          <a:prstGeom prst="roundRect">
            <a:avLst>
              <a:gd name="adj" fmla="val 14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Student browser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A7"/>
                </a:solidFill>
                <a:latin typeface="Avenir Next"/>
              </a:rPr>
              <a:t>4 tools · model controls · dark/light UI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2377440"/>
            <a:ext cx="274320" cy="237744"/>
          </a:xfrm>
          <a:prstGeom prst="rightArrow">
            <a:avLst/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71216" y="1965960"/>
            <a:ext cx="1993392" cy="1051560"/>
          </a:xfrm>
          <a:prstGeom prst="roundRect">
            <a:avLst>
              <a:gd name="adj" fmla="val 14000"/>
            </a:avLst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FastAPI backend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A7"/>
                </a:solidFill>
                <a:latin typeface="Avenir Next"/>
              </a:rPr>
              <a:t>validation · routing · telemetry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82896" y="2377440"/>
            <a:ext cx="274320" cy="237744"/>
          </a:xfrm>
          <a:prstGeom prst="rightArrow">
            <a:avLst/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93792" y="1965960"/>
            <a:ext cx="1993392" cy="1051560"/>
          </a:xfrm>
          <a:prstGeom prst="roundRect">
            <a:avLst>
              <a:gd name="adj" fmla="val 14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Prompt builder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A7"/>
                </a:solidFill>
                <a:latin typeface="Avenir Next"/>
              </a:rPr>
              <a:t>system + datetime + workflow + tagged input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05472" y="2377440"/>
            <a:ext cx="274320" cy="237744"/>
          </a:xfrm>
          <a:prstGeom prst="rightArrow">
            <a:avLst/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16368" y="1965960"/>
            <a:ext cx="1993392" cy="1051560"/>
          </a:xfrm>
          <a:prstGeom prst="roundRect">
            <a:avLst>
              <a:gd name="adj" fmla="val 14000"/>
            </a:avLst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Amazon Bedrock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A7"/>
                </a:solidFill>
                <a:latin typeface="Avenir Next"/>
              </a:rPr>
              <a:t>Nova Pro / Claude 3.7 via Strands Agent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28048" y="2377440"/>
            <a:ext cx="274320" cy="237744"/>
          </a:xfrm>
          <a:prstGeom prst="rightArrow">
            <a:avLst/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38944" y="1965960"/>
            <a:ext cx="1993392" cy="1051560"/>
          </a:xfrm>
          <a:prstGeom prst="roundRect">
            <a:avLst>
              <a:gd name="adj" fmla="val 14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Answer + telemetry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A7"/>
                </a:solidFill>
                <a:latin typeface="Avenir Next"/>
              </a:rPr>
              <a:t>markdown · tokens · cost ·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110642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Single-page UI: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tabs switch between the four workflows; each keeps its own chat history and streams answers word-by-word.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Every request carries model parameters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(model, temperature, top-p, max tokens) or falls back to per-route defaults.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Every response returns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the resolved model params, token usage, an approximate USD cost and latency — shown under each answer.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Demo mode: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if AWS is unreachable, curated fallback answers keep the product demoable.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736C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70101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04 · APP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211B"/>
                </a:solidFill>
                <a:latin typeface="Avenir Next"/>
              </a:rPr>
              <a:t>Resume PDF pipeline (Resume Review &amp; Interview Prep)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993392" cy="1051560"/>
          </a:xfrm>
          <a:prstGeom prst="roundRect">
            <a:avLst>
              <a:gd name="adj" fmla="val 14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Drag &amp; drop PDF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A7"/>
                </a:solidFill>
                <a:latin typeface="Avenir Next"/>
              </a:rPr>
              <a:t>anywhere on the page · 5 MB max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2331720"/>
            <a:ext cx="274320" cy="237744"/>
          </a:xfrm>
          <a:prstGeom prst="rightArrow">
            <a:avLst/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71216" y="1920240"/>
            <a:ext cx="1993392" cy="1051560"/>
          </a:xfrm>
          <a:prstGeom prst="roundRect">
            <a:avLst>
              <a:gd name="adj" fmla="val 14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FastAPI /resume-extract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A7"/>
                </a:solidFill>
                <a:latin typeface="Avenir Next"/>
              </a:rPr>
              <a:t>validates type, size, %PDF header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82896" y="2331720"/>
            <a:ext cx="274320" cy="237744"/>
          </a:xfrm>
          <a:prstGeom prst="rightArrow">
            <a:avLst/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93792" y="1920240"/>
            <a:ext cx="1993392" cy="1051560"/>
          </a:xfrm>
          <a:prstGeom prst="roundRect">
            <a:avLst>
              <a:gd name="adj" fmla="val 14000"/>
            </a:avLst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Amazon S3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A7"/>
                </a:solidFill>
                <a:latin typeface="Avenir Next"/>
              </a:rPr>
              <a:t>unique key under resume-uploads/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05472" y="2331720"/>
            <a:ext cx="274320" cy="237744"/>
          </a:xfrm>
          <a:prstGeom prst="rightArrow">
            <a:avLst/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16368" y="1920240"/>
            <a:ext cx="1993392" cy="1051560"/>
          </a:xfrm>
          <a:prstGeom prst="roundRect">
            <a:avLst>
              <a:gd name="adj" fmla="val 14000"/>
            </a:avLst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Lambda (pypdf)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A7"/>
                </a:solidFill>
                <a:latin typeface="Avenir Next"/>
              </a:rPr>
              <a:t>SAM-deployed text extraction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28048" y="2331720"/>
            <a:ext cx="274320" cy="237744"/>
          </a:xfrm>
          <a:prstGeom prst="rightArrow">
            <a:avLst/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38944" y="1920240"/>
            <a:ext cx="1993392" cy="1051560"/>
          </a:xfrm>
          <a:prstGeom prst="roundRect">
            <a:avLst>
              <a:gd name="adj" fmla="val 14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52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Avenir Next"/>
              </a:rPr>
              <a:t>Auto-filled form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B0A7"/>
                </a:solidFill>
                <a:latin typeface="Avenir Next"/>
              </a:rPr>
              <a:t>resume text + suggested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1106424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Privacy by design: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the S3 object is deleted immediately after extraction — the resume lives only inside the request.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Selectable text only: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scanned/image PDFs are rejected with a clear message; the student can paste text instead.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Smart auto-fill: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target role is inferred from the most recent job in the experience section, never overwriting user input.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Personalized output: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the LLM greets the candidate by name and grounds feedback in their real bullets and projects.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736C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355140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05 · AWS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211B"/>
                </a:solidFill>
                <a:latin typeface="Avenir Next"/>
              </a:rPr>
              <a:t>AWS services we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84448" cy="2029968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76B4D"/>
                </a:solidFill>
                <a:latin typeface="Avenir Next"/>
              </a:rPr>
              <a:t>Amazon Bedrock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11B"/>
                </a:solidFill>
                <a:latin typeface="Avenir Next"/>
              </a:rPr>
              <a:t>Managed access to Nova and Claude foundation models with on-demand inference profiles (apac./global.).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1" y="1783080"/>
            <a:ext cx="3584448" cy="2029968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76B4D"/>
                </a:solidFill>
                <a:latin typeface="Avenir Next"/>
              </a:rPr>
              <a:t>Bedrock AgentCore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11B"/>
                </a:solidFill>
                <a:latin typeface="Avenir Next"/>
              </a:rPr>
              <a:t>Serverless agent runtime hosting the CampusPath agent behind a single /invocations endpoint.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3023" y="1783080"/>
            <a:ext cx="3584448" cy="2029968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76B4D"/>
                </a:solidFill>
                <a:latin typeface="Avenir Next"/>
              </a:rPr>
              <a:t>Amazon S3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11B"/>
                </a:solidFill>
                <a:latin typeface="Avenir Next"/>
              </a:rPr>
              <a:t>Temporary, prefix-scoped storage for uploaded resume PDFs (sagemaker-tutorials-mlhub/resume-uploads/).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3584448" cy="2029968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76B4D"/>
                </a:solidFill>
                <a:latin typeface="Avenir Next"/>
              </a:rPr>
              <a:t>AWS Lambda + SAM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11B"/>
                </a:solidFill>
                <a:latin typeface="Avenir Next"/>
              </a:rPr>
              <a:t>campuspath-resume-pdf-extractor: pypdf text extraction, built and shipped with AWS SAM.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4023360"/>
            <a:ext cx="3584448" cy="2029968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76B4D"/>
                </a:solidFill>
                <a:latin typeface="Avenir Next"/>
              </a:rPr>
              <a:t>IAM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11B"/>
                </a:solidFill>
                <a:latin typeface="Avenir Next"/>
              </a:rPr>
              <a:t>Least-privilege roles: Lambda gets GetObject on one prefix; backend gets PutObject/Delete + InvokeFunction.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3023" y="4023360"/>
            <a:ext cx="3584448" cy="2029968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76B4D"/>
                </a:solidFill>
                <a:latin typeface="Avenir Next"/>
              </a:rPr>
              <a:t>CloudWatch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5211B"/>
                </a:solidFill>
                <a:latin typeface="Avenir Next"/>
              </a:rPr>
              <a:t>Logs and metrics for the AgentCore runtime and the extraction Lambda.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736C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355140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06 · AGENTCORE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211B"/>
                </a:solidFill>
                <a:latin typeface="Avenir Next"/>
              </a:rPr>
              <a:t>What is Amazon Bedrock AgentCore?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1264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Purpose-built agent hosting: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run agents written in any framework (we use Strands Agents) without managing servers.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Container-based runtime: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your Python app is packaged into a container and served as a managed HTTP endpoint.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Simple contract: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implement one entrypoint; AgentCore handles scaling, isolation and session identity.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Session-aware: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each caller passes a runtime session id header, enabling per-user context.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Framework freedom: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the same app runs locally with `agentcore dev` and in AWS unchanged.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783080"/>
            <a:ext cx="4754880" cy="4297680"/>
          </a:xfrm>
          <a:prstGeom prst="roundRect">
            <a:avLst>
              <a:gd name="adj" fmla="val 6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D9F99D"/>
                </a:solidFill>
                <a:latin typeface="Avenir Next"/>
              </a:rPr>
              <a:t>Runtime contract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Menlo"/>
              </a:rPr>
              <a:t>GET  /ping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9FB0A7"/>
                </a:solidFill>
                <a:latin typeface="Avenir Next"/>
              </a:rPr>
              <a:t>health check for the runtime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Menlo"/>
              </a:rPr>
              <a:t>POST /invocations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9FB0A7"/>
                </a:solidFill>
                <a:latin typeface="Avenir Next"/>
              </a:rPr>
              <a:t>single entrypoint · JSON body in, JSON 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Menlo"/>
              </a:rPr>
              <a:t>X-Amzn-Bedrock-AgentCore-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enlo"/>
              </a:rPr>
              <a:t>Runtime-Session-Id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 i="0">
                <a:solidFill>
                  <a:srgbClr val="9FB0A7"/>
                </a:solidFill>
                <a:latin typeface="Avenir Next"/>
              </a:rPr>
              <a:t>session identity per student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9F99D"/>
                </a:solidFill>
                <a:latin typeface="Menlo"/>
              </a:rPr>
              <a:t>@app.entrypoint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Menlo"/>
              </a:rPr>
              <a:t>async def invoke(payload, context)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736C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355140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07 · AGENTCORE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211B"/>
                </a:solidFill>
                <a:latin typeface="Avenir Next"/>
              </a:rPr>
              <a:t>How CampusPath uses AgentCore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03504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Body-based routing: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one endpoint, four workflows — the JSON body carries route (or action) plus workflow fields.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Strands Agent per request: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BedrockModel + layered system prompt + route workflow prompt, no tools, no retained memory.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Strict validation: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unknown routes, bad params or missing fields return ok:false with allowed_routes listed.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Flexible payloads: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accepts simple fields, a free-form prompt, or Bedrock-style messages[] blocks.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Rich responses: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answer, route_title, model_params, token usage, cost estimate and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783080"/>
            <a:ext cx="4846320" cy="4297680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176B4D"/>
                </a:solidFill>
                <a:latin typeface="Avenir Next"/>
              </a:rPr>
              <a:t>Allowed routes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67736C"/>
                </a:solidFill>
                <a:latin typeface="Menlo"/>
              </a:rPr>
              <a:t>route             </a:t>
            </a:r>
            <a:r>
              <a:rPr sz="1200" b="0" i="0">
                <a:solidFill>
                  <a:srgbClr val="67736C"/>
                </a:solidFill>
                <a:latin typeface="Avenir Next"/>
              </a:rPr>
              <a:t>workflow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5211B"/>
                </a:solidFill>
                <a:latin typeface="Menlo"/>
              </a:rPr>
              <a:t>placement-doubt   </a:t>
            </a:r>
            <a:r>
              <a:rPr sz="1200" b="1" i="0">
                <a:solidFill>
                  <a:srgbClr val="176B4D"/>
                </a:solidFill>
                <a:latin typeface="Avenir Next"/>
              </a:rPr>
              <a:t>Placement Coach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5211B"/>
                </a:solidFill>
                <a:latin typeface="Menlo"/>
              </a:rPr>
              <a:t>career-roadmap    </a:t>
            </a:r>
            <a:r>
              <a:rPr sz="1200" b="1" i="0">
                <a:solidFill>
                  <a:srgbClr val="176B4D"/>
                </a:solidFill>
                <a:latin typeface="Avenir Next"/>
              </a:rPr>
              <a:t>Career Roadmap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5211B"/>
                </a:solidFill>
                <a:latin typeface="Menlo"/>
              </a:rPr>
              <a:t>resume-review     </a:t>
            </a:r>
            <a:r>
              <a:rPr sz="1200" b="1" i="0">
                <a:solidFill>
                  <a:srgbClr val="176B4D"/>
                </a:solidFill>
                <a:latin typeface="Avenir Next"/>
              </a:rPr>
              <a:t>Resume Review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5211B"/>
                </a:solidFill>
                <a:latin typeface="Menlo"/>
              </a:rPr>
              <a:t>interview-prep    </a:t>
            </a:r>
            <a:r>
              <a:rPr sz="1200" b="1" i="0">
                <a:solidFill>
                  <a:srgbClr val="176B4D"/>
                </a:solidFill>
                <a:latin typeface="Avenir Next"/>
              </a:rPr>
              <a:t>Interview Prep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15211B"/>
                </a:solidFill>
                <a:latin typeface="Menlo"/>
              </a:rPr>
              <a:t>POST /invocations</a:t>
            </a:r>
            <a:r>
              <a:rPr sz="1200" b="0" i="0">
                <a:solidFill>
                  <a:srgbClr val="67736C"/>
                </a:solidFill>
                <a:latin typeface="Menlo"/>
              </a:rPr>
              <a:t>  { "route": "...", ...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736C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440180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08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211B"/>
                </a:solidFill>
                <a:latin typeface="Avenir Next"/>
              </a:rPr>
              <a:t>How we ship CampusPath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84448" cy="4343400"/>
          </a:xfrm>
          <a:prstGeom prst="roundRect">
            <a:avLst>
              <a:gd name="adj" fmla="val 6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D9F99D"/>
                </a:solidFill>
                <a:latin typeface="Avenir Next"/>
              </a:rPr>
              <a:t>Agent → AgentCore Runtime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enlo"/>
              </a:rPr>
              <a:t>agentcore create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scaffolds the Strands agent project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enlo"/>
              </a:rPr>
              <a:t>agentcore dev --no-browser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local runtime on :8080 for testing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enlo"/>
              </a:rPr>
              <a:t>agentcore deploy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builds the container, pushes to ECR and provisions the AgentCore runtime via CDK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1" y="1783080"/>
            <a:ext cx="3584448" cy="4343400"/>
          </a:xfrm>
          <a:prstGeom prst="roundRect">
            <a:avLst>
              <a:gd name="adj" fmla="val 6000"/>
            </a:avLst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D9F99D"/>
                </a:solidFill>
                <a:latin typeface="Avenir Next"/>
              </a:rPr>
              <a:t>Resume extractor → Lambda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enlo"/>
              </a:rPr>
              <a:t>sam build --use-container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builds pypdf deps in a Lambda-like image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enlo"/>
              </a:rPr>
              <a:t>sam deploy --guided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creates campuspath-resume-pdf-extractor with prefix-scoped S3 read access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enlo"/>
              </a:rPr>
              <a:t>IAM parameters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bucket + key prefix passed as stack parameters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3023" y="1783080"/>
            <a:ext cx="3584448" cy="4343400"/>
          </a:xfrm>
          <a:prstGeom prst="roundRect">
            <a:avLst>
              <a:gd name="adj" fmla="val 6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D9F99D"/>
                </a:solidFill>
                <a:latin typeface="Avenir Next"/>
              </a:rPr>
              <a:t>Frontend + API gateway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enlo"/>
              </a:rPr>
              <a:t>uvicorn backend.main:app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serves the UI and /api routes on :8000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enlo"/>
              </a:rPr>
              <a:t>Env-driven config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AWS_REGION, RESUME_BUCKET_NAME, BEDROCK_MODEL_ID, BEDROCK_RESUME_MODEL_ID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enlo"/>
              </a:rPr>
              <a:t>Same code, any host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local laptop today; EC2/App Runner-ready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736C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100023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09 ·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211B"/>
                </a:solidFill>
                <a:latin typeface="Avenir Next"/>
              </a:rPr>
              <a:t>Which LLMs power CampusPath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532120" cy="2377440"/>
          </a:xfrm>
          <a:prstGeom prst="roundRect">
            <a:avLst>
              <a:gd name="adj" fmla="val 7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D9F99D"/>
                </a:solidFill>
                <a:latin typeface="Avenir Next"/>
              </a:rPr>
              <a:t>DEFAULT · ALL WORKFLOWS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Amazon Nova Pro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9FB0A7"/>
                </a:solidFill>
                <a:latin typeface="Menlo"/>
              </a:rPr>
              <a:t>apac.amazon.nova-pro-v1:0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FECE4"/>
                </a:solidFill>
                <a:latin typeface="Avenir Next"/>
              </a:rPr>
              <a:t>Fast, cost-efficient reasoning for placement coaching and career roadmaps.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349240" cy="2377440"/>
          </a:xfrm>
          <a:prstGeom prst="roundRect">
            <a:avLst>
              <a:gd name="adj" fmla="val 7000"/>
            </a:avLst>
          </a:prstGeom>
          <a:solidFill>
            <a:srgbClr val="176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D9F99D"/>
                </a:solidFill>
                <a:latin typeface="Avenir Next"/>
              </a:rPr>
              <a:t>RESUME REVIEW + INTERVIEW PREP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Claude 3.7 Sonnet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D9F99D"/>
                </a:solidFill>
                <a:latin typeface="Menlo"/>
              </a:rPr>
              <a:t>apac.anthropic.claude-3-7-sonnet-20250219-v1:0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venir Next"/>
              </a:rPr>
              <a:t>Stronger nuance for personalized resume feedback and interview simulation.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34840"/>
            <a:ext cx="11064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Shared defaults: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temperature 0.4 · top-p 0.9 · max 4096 output tokens — user-tunable per request from the UI.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User choice: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students can switch to Nova Lite/Micro, Nova 2 Lite, Claude 3.5 Sonnet v2 or Claude 3 Haiku; manual picks are pinned.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Cost transparency: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each answer shows estimated USD cost from per-model input/output token rates.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736C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355140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10 ·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211B"/>
                </a:solidFill>
                <a:latin typeface="Avenir Next"/>
              </a:rPr>
              <a:t>Prompt techniques we follow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Layered system prompt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5211B"/>
                </a:solidFill>
                <a:latin typeface="Avenir Next"/>
              </a:rPr>
              <a:t>XML-structured blocks: &lt;identity&gt;, &lt;mission&gt;, &lt;operating_principles&gt;, &lt;response_rules&gt;, &lt;final_quality_check&gt; — one shared base for all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7" y="17373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Route workflow prompts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5211B"/>
                </a:solidFill>
                <a:latin typeface="Avenir Next"/>
              </a:rPr>
              <a:t>each tool appends a &lt;workflow&gt; spec with numbered deliverables (verdict, score /100, plans) so output shape is predictable.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73552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Dynamic date &amp; time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5211B"/>
                </a:solidFill>
                <a:latin typeface="Avenir Next"/>
              </a:rPr>
              <a:t>a fresh &lt;current_datetime&gt; block (Asia/Kolkata) is injected per call — 'today', deadlines and interview timelines resolve correctly.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7" y="3273552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Deep personalization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5211B"/>
                </a:solidFill>
                <a:latin typeface="Avenir Next"/>
              </a:rPr>
              <a:t>the model greets the candidate by their resume name, quotes their real bullets, and tailors questions to their latest 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09744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Structured examples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5211B"/>
                </a:solidFill>
                <a:latin typeface="Avenir Next"/>
              </a:rPr>
              <a:t>resume rewrites use Before → Better pairs; missing metrics become visible [add verified metric] placeholders — never invented.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4809744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Private reasoning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5211B"/>
                </a:solidFill>
                <a:latin typeface="Avenir Next"/>
              </a:rPr>
              <a:t>the model is told to think silently and return conclusions only — no chain-of-thought or hidden tags in answers.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736C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440180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11 ·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211B"/>
                </a:solidFill>
                <a:latin typeface="Avenir Next"/>
              </a:rPr>
              <a:t>Safety and security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532120" cy="4343400"/>
          </a:xfrm>
          <a:prstGeom prst="roundRect">
            <a:avLst>
              <a:gd name="adj" fmla="val 6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D9F99D"/>
                </a:solidFill>
                <a:latin typeface="Avenir Next"/>
              </a:rPr>
              <a:t>Prompt security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D9F99D"/>
                </a:solidFill>
                <a:latin typeface="Avenir Next"/>
              </a:rPr>
              <a:t>—  </a:t>
            </a:r>
            <a:r>
              <a:rPr sz="1250" b="0" i="0">
                <a:solidFill>
                  <a:srgbClr val="DFECE4"/>
                </a:solidFill>
                <a:latin typeface="Avenir Next"/>
              </a:rPr>
              <a:t>Student input is HTML-escaped and wrapped in &lt;untrusted_student_input&gt; — treated as data, never as instructions.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D9F99D"/>
                </a:solidFill>
                <a:latin typeface="Avenir Next"/>
              </a:rPr>
              <a:t>—  </a:t>
            </a:r>
            <a:r>
              <a:rPr sz="1250" b="0" i="0">
                <a:solidFill>
                  <a:srgbClr val="DFECE4"/>
                </a:solidFill>
                <a:latin typeface="Avenir Next"/>
              </a:rPr>
              <a:t>Injection attempts to change roles, reveal prompts or switch workflows are explicitly ignored.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D9F99D"/>
                </a:solidFill>
                <a:latin typeface="Avenir Next"/>
              </a:rPr>
              <a:t>—  </a:t>
            </a:r>
            <a:r>
              <a:rPr sz="1250" b="0" i="0">
                <a:solidFill>
                  <a:srgbClr val="DFECE4"/>
                </a:solidFill>
                <a:latin typeface="Avenir Next"/>
              </a:rPr>
              <a:t>System prompts, XML tags and reasoning are never exposed in responses.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F99D"/>
                </a:solidFill>
                <a:latin typeface="Avenir Next"/>
              </a:rPr>
              <a:t>—  </a:t>
            </a:r>
            <a:r>
              <a:rPr sz="1250" b="0" i="0">
                <a:solidFill>
                  <a:srgbClr val="DFECE4"/>
                </a:solidFill>
                <a:latin typeface="Avenir Next"/>
              </a:rPr>
              <a:t>Uploads validated (type, size, %PDF magic bytes); S3 objects deleted right after extraction.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349240" cy="4343400"/>
          </a:xfrm>
          <a:prstGeom prst="roundRect">
            <a:avLst>
              <a:gd name="adj" fmla="val 8000"/>
            </a:avLst>
          </a:prstGeom>
          <a:solidFill>
            <a:srgbClr val="FFFFFC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176B4D"/>
                </a:solidFill>
                <a:latin typeface="Avenir Next"/>
              </a:rPr>
              <a:t>Content safety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250" b="0" i="0">
                <a:solidFill>
                  <a:srgbClr val="15211B"/>
                </a:solidFill>
                <a:latin typeface="Avenir Next"/>
              </a:rPr>
              <a:t>Never invents metrics, employers, certifications or achievements; no selection or salary guarantees.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250" b="0" i="0">
                <a:solidFill>
                  <a:srgbClr val="15211B"/>
                </a:solidFill>
                <a:latin typeface="Avenir Next"/>
              </a:rPr>
              <a:t>Refuses live-test cheating, impersonation and proctoring evasion — offers preparation help instead.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250" b="0" i="0">
                <a:solidFill>
                  <a:srgbClr val="15211B"/>
                </a:solidFill>
                <a:latin typeface="Avenir Next"/>
              </a:rPr>
              <a:t>De-escalates abusive messages calmly; answers the useful question, never retaliates.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250" b="0" i="0">
                <a:solidFill>
                  <a:srgbClr val="15211B"/>
                </a:solidFill>
                <a:latin typeface="Avenir Next"/>
              </a:rPr>
              <a:t>No requests for phone numbers, IDs, credentials or financial data; off-topic queries are redirected.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736C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014983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12 ·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5211B"/>
                </a:solidFill>
                <a:latin typeface="Avenir Next"/>
              </a:rPr>
              <a:t>Telemetry, cost and reliability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651760" cy="1737360"/>
          </a:xfrm>
          <a:prstGeom prst="roundRect">
            <a:avLst>
              <a:gd name="adj" fmla="val 9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9F99D"/>
                </a:solidFill>
                <a:latin typeface="Avenir Next"/>
              </a:rPr>
              <a:t>Usage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input / output / total tokens returned with every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1783080"/>
            <a:ext cx="2651760" cy="1737360"/>
          </a:xfrm>
          <a:prstGeom prst="roundRect">
            <a:avLst>
              <a:gd name="adj" fmla="val 9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9F99D"/>
                </a:solidFill>
                <a:latin typeface="Avenir Next"/>
              </a:rPr>
              <a:t>Cost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approximate USD estimate from per-model rates per 1M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3" y="1783080"/>
            <a:ext cx="2651760" cy="1737360"/>
          </a:xfrm>
          <a:prstGeom prst="roundRect">
            <a:avLst>
              <a:gd name="adj" fmla="val 9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9F99D"/>
                </a:solidFill>
                <a:latin typeface="Avenir Next"/>
              </a:rPr>
              <a:t>Latency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end-to-end ms measured server-side and shown in the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4856" y="1783080"/>
            <a:ext cx="2651760" cy="1737360"/>
          </a:xfrm>
          <a:prstGeom prst="roundRect">
            <a:avLst>
              <a:gd name="adj" fmla="val 9000"/>
            </a:avLst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9F99D"/>
                </a:solidFill>
                <a:latin typeface="Avenir Next"/>
              </a:rPr>
              <a:t>Model params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the exact model, temperature, top-p and max tokens actually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1064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Friendly failures: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Bedrock access, marketplace and inference-profile errors map to clear, actionable messages in the chat.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Demo fallback: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CAMPUSPATH_DEMO_MODE serves curated sample answers when AWS credentials are unavailable.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Postman collection: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ready-made requests for both FastAPI and AgentCore runtimes, including validation-failure examples.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 i="0">
                <a:solidFill>
                  <a:srgbClr val="176B4D"/>
                </a:solidFill>
                <a:latin typeface="Avenir Next"/>
              </a:rPr>
              <a:t>—  </a:t>
            </a:r>
            <a:r>
              <a:rPr sz="1350" b="1" i="0">
                <a:solidFill>
                  <a:srgbClr val="15211B"/>
                </a:solidFill>
                <a:latin typeface="Avenir Next"/>
              </a:rPr>
              <a:t>Nothing silent: </a:t>
            </a:r>
            <a:r>
              <a:rPr sz="1350" b="0" i="0">
                <a:solidFill>
                  <a:srgbClr val="15211B"/>
                </a:solidFill>
                <a:latin typeface="Avenir Next"/>
              </a:rPr>
              <a:t>blocked submissions, upload failures and script errors all surface visibly in the chat thread.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7736C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noFill/>
          <a:ln w="15240">
            <a:solidFill>
              <a:srgbClr val="2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777240"/>
            <a:ext cx="1950415" cy="310896"/>
          </a:xfrm>
          <a:prstGeom prst="roundRect">
            <a:avLst>
              <a:gd name="adj" fmla="val 50000"/>
            </a:avLst>
          </a:prstGeom>
          <a:solidFill>
            <a:srgbClr val="D9F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291F"/>
                </a:solidFill>
                <a:latin typeface="Avenir Next"/>
              </a:rPr>
              <a:t>CAMPUSPATH AI ·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venir Next"/>
              </a:rPr>
              <a:t>Personal placement coaching,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9F99D"/>
                </a:solidFill>
                <a:latin typeface="Avenir Next"/>
              </a:rPr>
              <a:t>production-shaped on AWS.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14600"/>
            <a:ext cx="2743200" cy="2926080"/>
          </a:xfrm>
          <a:prstGeom prst="roundRect">
            <a:avLst>
              <a:gd name="adj" fmla="val 9000"/>
            </a:avLst>
          </a:prstGeom>
          <a:solidFill>
            <a:srgbClr val="1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D9F99D"/>
                </a:solidFill>
                <a:latin typeface="Avenir Next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AI workflows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Placement Coach · Career Roadmap · Resume Review · Interview Prep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514600"/>
            <a:ext cx="2743200" cy="2926080"/>
          </a:xfrm>
          <a:prstGeom prst="roundRect">
            <a:avLst>
              <a:gd name="adj" fmla="val 9000"/>
            </a:avLst>
          </a:prstGeom>
          <a:solidFill>
            <a:srgbClr val="1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D9F99D"/>
                </a:solidFill>
                <a:latin typeface="Avenir Next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Bedrock models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Nova Pro (default) · Claude 3.7 Sonnet (resume + interview)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514600"/>
            <a:ext cx="2743200" cy="2926080"/>
          </a:xfrm>
          <a:prstGeom prst="roundRect">
            <a:avLst>
              <a:gd name="adj" fmla="val 9000"/>
            </a:avLst>
          </a:prstGeom>
          <a:solidFill>
            <a:srgbClr val="1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D9F99D"/>
                </a:solidFill>
                <a:latin typeface="Avenir Next"/>
              </a:rPr>
              <a:t>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AWS services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Bedrock · AgentCore · S3 · Lambda · IAM · CloudWatch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2514600"/>
            <a:ext cx="2743200" cy="2926080"/>
          </a:xfrm>
          <a:prstGeom prst="roundRect">
            <a:avLst>
              <a:gd name="adj" fmla="val 9000"/>
            </a:avLst>
          </a:prstGeom>
          <a:solidFill>
            <a:srgbClr val="1B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152400" bIns="152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D9F99D"/>
                </a:solidFill>
                <a:latin typeface="Avenir Next"/>
              </a:rPr>
              <a:t>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runtimes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FECE4"/>
                </a:solidFill>
                <a:latin typeface="Avenir Next"/>
              </a:rPr>
              <a:t>AgentCore /invocations · FastAPI UI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6928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FECE4"/>
                </a:solidFill>
                <a:latin typeface="Avenir Next"/>
              </a:rPr>
              <a:t>Live demo: upload a resume, pick an interview date, and watch CampusPath build a plan around you. 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B0A7"/>
                </a:solidFill>
                <a:latin typeface="Avenir Next"/>
              </a:rPr>
              <a:t>CampusPath AI · Amazon Bedrock AgentCore ·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